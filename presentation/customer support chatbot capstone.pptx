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95" d="100"/>
          <a:sy n="95" d="100"/>
        </p:scale>
        <p:origin x="750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95B7151-0F6B-45A9-BC49-1475BF54A2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C11474-2B7F-4076-B328-55233D89EE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D7CEC0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46E4B-B249-4F43-8BEA-035EDD66ED5C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9728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32775-D631-4B74-92CC-DC5DBEB2306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71450" cy="49530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330B21-EFCA-4572-AA97-53079E31BD7D}"/>
              </a:ext>
            </a:extLst>
          </p:cNvPr>
          <p:cNvSpPr>
            <a:spLocks noGrp="1"/>
          </p:cNvSpPr>
          <p:nvPr/>
        </p:nvSpPr>
        <p:spPr>
          <a:xfrm>
            <a:off x="1009650" y="10477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63DB5-6894-4B37-AFF5-5D0847D62F08}"/>
              </a:ext>
            </a:extLst>
          </p:cNvPr>
          <p:cNvSpPr>
            <a:spLocks noGrp="1"/>
          </p:cNvSpPr>
          <p:nvPr/>
        </p:nvSpPr>
        <p:spPr>
          <a:xfrm>
            <a:off x="1143000" y="1123950"/>
            <a:ext cx="1828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Support Agent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2AA67D-E7CA-4541-818B-4DF999488DED}"/>
              </a:ext>
            </a:extLst>
          </p:cNvPr>
          <p:cNvSpPr>
            <a:spLocks noGrp="1"/>
          </p:cNvSpPr>
          <p:nvPr/>
        </p:nvSpPr>
        <p:spPr>
          <a:xfrm>
            <a:off x="1009650" y="1581150"/>
            <a:ext cx="685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SpaceKonceptRental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3725F4-1E9E-4B8D-9A9A-1AE86F2F6E34}"/>
              </a:ext>
            </a:extLst>
          </p:cNvPr>
          <p:cNvSpPr>
            <a:spLocks noGrp="1"/>
          </p:cNvSpPr>
          <p:nvPr/>
        </p:nvSpPr>
        <p:spPr>
          <a:xfrm>
            <a:off x="1028700" y="2324100"/>
            <a:ext cx="75247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RAG customer support workflow built with n8n, Google Drive, Pinecone, Google Sheets, Gmail, and OpenAI.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F88DF5-E93B-4A7E-8F57-BE883A28EF3B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Capstone goal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731E28-B766-4D55-98BF-61689811E228}"/>
              </a:ext>
            </a:extLst>
          </p:cNvPr>
          <p:cNvSpPr>
            <a:spLocks noGrp="1"/>
          </p:cNvSpPr>
          <p:nvPr/>
        </p:nvSpPr>
        <p:spPr>
          <a:xfrm>
            <a:off x="1028700" y="396240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Answer FAQs, capture leads, create tickets, escalate issues, and log operations for review.</a:t>
            </a:r>
            <a:endParaRPr lang="en-SG" sz="150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endParaRPr lang="en-MY" sz="150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>
              <a:defRPr sz="1650" b="1">
                <a:solidFill>
                  <a:srgbClr val="073B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00" b="1" dirty="0">
                <a:solidFill>
                  <a:srgbClr val="073B5B"/>
                </a:solidFill>
                <a:latin typeface="Aptos Display"/>
                <a:ea typeface="Aptos Display"/>
                <a:cs typeface="Aptos Display"/>
              </a:rPr>
              <a:t>Presented by</a:t>
            </a:r>
          </a:p>
          <a:p>
            <a:pPr>
              <a:defRPr sz="1650" b="1">
                <a:solidFill>
                  <a:srgbClr val="073B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600" b="1" dirty="0">
                <a:solidFill>
                  <a:srgbClr val="073B5B"/>
                </a:solidFill>
                <a:latin typeface="Aptos Display"/>
                <a:ea typeface="Aptos Display"/>
                <a:cs typeface="Aptos Display"/>
              </a:rPr>
              <a:t>Francies Cheng, Wei Jun, Sian Hwee</a:t>
            </a:r>
          </a:p>
          <a:p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endParaRPr sz="150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CB0F2-F4D5-4176-8CFD-9272518D3C24}"/>
              </a:ext>
            </a:extLst>
          </p:cNvPr>
          <p:cNvSpPr>
            <a:spLocks noGrp="1"/>
          </p:cNvSpPr>
          <p:nvPr/>
        </p:nvSpPr>
        <p:spPr>
          <a:xfrm>
            <a:off x="8858250" y="1390650"/>
            <a:ext cx="2095500" cy="2857500"/>
          </a:xfrm>
          <a:prstGeom prst="rect">
            <a:avLst/>
          </a:prstGeom>
          <a:solidFill>
            <a:srgbClr val="E9F2EF"/>
          </a:solidFill>
          <a:ln w="9525">
            <a:solidFill>
              <a:srgbClr val="B8D7C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47619-6E16-44E0-A3FF-340F742A6C69}"/>
              </a:ext>
            </a:extLst>
          </p:cNvPr>
          <p:cNvSpPr>
            <a:spLocks noGrp="1"/>
          </p:cNvSpPr>
          <p:nvPr/>
        </p:nvSpPr>
        <p:spPr>
          <a:xfrm>
            <a:off x="9144000" y="17335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BF401-18AC-41E5-B01E-26880AE077B3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1428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 Ingest KB</a:t>
            </a:r>
          </a:p>
          <a:p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 Ask chatbot</a:t>
            </a:r>
          </a:p>
          <a:p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 Review Sheets</a:t>
            </a:r>
          </a:p>
          <a:p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 Trigger error path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DC8DC-C989-42D5-B75D-67EC007CD18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0F0AC-A29C-42A7-A0F8-52B2F31ADE08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770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B3A9998-6BBF-41DA-B058-67813BE6C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ACE5B7-657C-4525-BCA8-B5CBC51549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AFB924-DC2B-4FE9-A458-98CD6983E27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CAPSTONE REQUIREMENT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80660-2053-4421-8281-733D9E94A74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Customer support scope mapped to working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2867B-0DE0-43A7-A411-E9AB724EB22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838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brief asks for FAQ answers, bookings, tickets, escalations, and lead generation.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0C8BD-2A11-40BA-932B-1A626913F276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2766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01F31-59D0-4703-9EE5-AEB41B9ADD22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57150" cy="146685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A452A0-AAA1-4C0D-A530-9D7FBD9491BF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FAQ and pricing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4782B1-CBE6-4D81-8F91-4DB89BF7ACAE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285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Answers are grounded in the uploaded Markdown KB. Pricing questions are answered conservatively and routed for quote confirmation.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4A8DA-A839-47B3-A782-04D69D19011B}"/>
              </a:ext>
            </a:extLst>
          </p:cNvPr>
          <p:cNvSpPr>
            <a:spLocks noGrp="1"/>
          </p:cNvSpPr>
          <p:nvPr/>
        </p:nvSpPr>
        <p:spPr>
          <a:xfrm>
            <a:off x="4457700" y="2133600"/>
            <a:ext cx="32766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0AB50-FDB3-4FAE-A67D-4088D77E158C}"/>
              </a:ext>
            </a:extLst>
          </p:cNvPr>
          <p:cNvSpPr>
            <a:spLocks noGrp="1"/>
          </p:cNvSpPr>
          <p:nvPr/>
        </p:nvSpPr>
        <p:spPr>
          <a:xfrm>
            <a:off x="4457700" y="2133600"/>
            <a:ext cx="57150" cy="1466850"/>
          </a:xfrm>
          <a:prstGeom prst="rect">
            <a:avLst/>
          </a:prstGeom>
          <a:solidFill>
            <a:srgbClr val="C992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D5D0A-BFC5-417D-83CB-26323E4D3E23}"/>
              </a:ext>
            </a:extLst>
          </p:cNvPr>
          <p:cNvSpPr>
            <a:spLocks noGrp="1"/>
          </p:cNvSpPr>
          <p:nvPr/>
        </p:nvSpPr>
        <p:spPr>
          <a:xfrm>
            <a:off x="4667250" y="23241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Booking and leads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6DB2D1-07E1-4060-8548-27844B14FC42}"/>
              </a:ext>
            </a:extLst>
          </p:cNvPr>
          <p:cNvSpPr>
            <a:spLocks noGrp="1"/>
          </p:cNvSpPr>
          <p:nvPr/>
        </p:nvSpPr>
        <p:spPr>
          <a:xfrm>
            <a:off x="4667250" y="2667000"/>
            <a:ext cx="285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agent collects contact details, rental purpose, dates, duration, items, delivery area, and budget where provided.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64C6C3-C226-46DC-BAF7-F3C6B69AE4FE}"/>
              </a:ext>
            </a:extLst>
          </p:cNvPr>
          <p:cNvSpPr>
            <a:spLocks noGrp="1"/>
          </p:cNvSpPr>
          <p:nvPr/>
        </p:nvSpPr>
        <p:spPr>
          <a:xfrm>
            <a:off x="8210550" y="2133600"/>
            <a:ext cx="32766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8F17E2-5FAC-4A03-A243-B84AF6CEC0AA}"/>
              </a:ext>
            </a:extLst>
          </p:cNvPr>
          <p:cNvSpPr>
            <a:spLocks noGrp="1"/>
          </p:cNvSpPr>
          <p:nvPr/>
        </p:nvSpPr>
        <p:spPr>
          <a:xfrm>
            <a:off x="8210550" y="2133600"/>
            <a:ext cx="57150" cy="1466850"/>
          </a:xfrm>
          <a:prstGeom prst="rect">
            <a:avLst/>
          </a:prstGeom>
          <a:solidFill>
            <a:srgbClr val="C65F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81DC92-8CE6-41B6-B7A2-62E75D171333}"/>
              </a:ext>
            </a:extLst>
          </p:cNvPr>
          <p:cNvSpPr>
            <a:spLocks noGrp="1"/>
          </p:cNvSpPr>
          <p:nvPr/>
        </p:nvSpPr>
        <p:spPr>
          <a:xfrm>
            <a:off x="8420100" y="23241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Tickets and escalation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E0BC9F-A39E-4DE4-AA1D-4CD8EF43B9E2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285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Damage, complaints, urgent delivery, or human handoff requests create follow-up records and Gmail alerts.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CC824A-C8FC-49A1-9E35-3A40A6CA4F88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3276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C531BB-C9B2-4C5C-9840-BE9B01ED55F0}"/>
              </a:ext>
            </a:extLst>
          </p:cNvPr>
          <p:cNvSpPr>
            <a:spLocks noGrp="1"/>
          </p:cNvSpPr>
          <p:nvPr/>
        </p:nvSpPr>
        <p:spPr>
          <a:xfrm>
            <a:off x="704850" y="4057650"/>
            <a:ext cx="57150" cy="1257300"/>
          </a:xfrm>
          <a:prstGeom prst="rect">
            <a:avLst/>
          </a:prstGeom>
          <a:solidFill>
            <a:srgbClr val="1E36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7ED3EB-9F39-4F96-B5C0-8A51D50E4810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Knowledge 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4317F9-38EF-40ED-946F-CE775D6C3173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Drive stores cleaned Markdown files; ingestion creates Pinecone vectors in SpaceKonceptRental_kb.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53DA3B-C533-4F15-AC09-65865270E989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3276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DDF621-E2BF-41B2-A98F-296E7BDDE5CB}"/>
              </a:ext>
            </a:extLst>
          </p:cNvPr>
          <p:cNvSpPr>
            <a:spLocks noGrp="1"/>
          </p:cNvSpPr>
          <p:nvPr/>
        </p:nvSpPr>
        <p:spPr>
          <a:xfrm>
            <a:off x="4457700" y="4057650"/>
            <a:ext cx="57150" cy="1257300"/>
          </a:xfrm>
          <a:prstGeom prst="rect">
            <a:avLst/>
          </a:prstGeom>
          <a:solidFill>
            <a:srgbClr val="4D8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CABF9D-1A1D-4F21-8A35-A307E37E882A}"/>
              </a:ext>
            </a:extLst>
          </p:cNvPr>
          <p:cNvSpPr>
            <a:spLocks noGrp="1"/>
          </p:cNvSpPr>
          <p:nvPr/>
        </p:nvSpPr>
        <p:spPr>
          <a:xfrm>
            <a:off x="4667250" y="42481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Logging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CB0B48-5BD7-45A1-A615-C2F708C62837}"/>
              </a:ext>
            </a:extLst>
          </p:cNvPr>
          <p:cNvSpPr>
            <a:spLocks noGrp="1"/>
          </p:cNvSpPr>
          <p:nvPr/>
        </p:nvSpPr>
        <p:spPr>
          <a:xfrm>
            <a:off x="4667250" y="45910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Sheets records conversations, leads, tickets, unanswered questions, ingestion, and failures.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AD8789-A275-431A-BE8C-4CE4DEC80CCB}"/>
              </a:ext>
            </a:extLst>
          </p:cNvPr>
          <p:cNvSpPr>
            <a:spLocks noGrp="1"/>
          </p:cNvSpPr>
          <p:nvPr/>
        </p:nvSpPr>
        <p:spPr>
          <a:xfrm>
            <a:off x="8210550" y="4057650"/>
            <a:ext cx="32766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2DF260-2171-438F-A1F8-412FDFB961FB}"/>
              </a:ext>
            </a:extLst>
          </p:cNvPr>
          <p:cNvSpPr>
            <a:spLocks noGrp="1"/>
          </p:cNvSpPr>
          <p:nvPr/>
        </p:nvSpPr>
        <p:spPr>
          <a:xfrm>
            <a:off x="8210550" y="4057650"/>
            <a:ext cx="57150" cy="12573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2720FA-A4F7-4975-A066-99EB3F21AE70}"/>
              </a:ext>
            </a:extLst>
          </p:cNvPr>
          <p:cNvSpPr>
            <a:spLocks noGrp="1"/>
          </p:cNvSpPr>
          <p:nvPr/>
        </p:nvSpPr>
        <p:spPr>
          <a:xfrm>
            <a:off x="8420100" y="42481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Error handling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F753B8-04D4-4C3C-B9ED-E7D9904817AB}"/>
              </a:ext>
            </a:extLst>
          </p:cNvPr>
          <p:cNvSpPr>
            <a:spLocks noGrp="1"/>
          </p:cNvSpPr>
          <p:nvPr/>
        </p:nvSpPr>
        <p:spPr>
          <a:xfrm>
            <a:off x="8420100" y="45910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 global error workflow logs failures and sends alerts independently of normal chat flow.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A17282-B63C-488C-B44E-E0A308739C5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4C42EB-8920-4C5A-9554-22D16A4A1001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571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8DCD81F-A0BD-4A15-A52C-CD7BB4E817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EDCD7E-261C-4482-8849-11A2BA680F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7EF11D-9BC2-4A78-A2BF-856520ED0B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19F97-C7DB-4B76-8A64-50568B5973D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Three local workflow exports cover the full support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8D99EE-566B-4CF4-AFF7-F3F669B095AF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809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579F-99E2-4F8C-A3A8-6E96E46BB372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809750" cy="762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33FAA4-C298-4F46-BC86-313C2EEC4BF9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Google Drive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91D96-77E3-4E99-A177-FBB1D1AC6754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Approved Markdown KB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B56615-742B-4A96-9D07-4A45AF096344}"/>
              </a:ext>
            </a:extLst>
          </p:cNvPr>
          <p:cNvSpPr>
            <a:spLocks noGrp="1"/>
          </p:cNvSpPr>
          <p:nvPr/>
        </p:nvSpPr>
        <p:spPr>
          <a:xfrm>
            <a:off x="2914650" y="2400300"/>
            <a:ext cx="1809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8BD064-C08A-4BB5-99C2-4FD106A80452}"/>
              </a:ext>
            </a:extLst>
          </p:cNvPr>
          <p:cNvSpPr>
            <a:spLocks noGrp="1"/>
          </p:cNvSpPr>
          <p:nvPr/>
        </p:nvSpPr>
        <p:spPr>
          <a:xfrm>
            <a:off x="2914650" y="2400300"/>
            <a:ext cx="1809750" cy="76200"/>
          </a:xfrm>
          <a:prstGeom prst="rect">
            <a:avLst/>
          </a:prstGeom>
          <a:solidFill>
            <a:srgbClr val="C992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74DC8B-4E35-41B5-A444-ABC263A2A633}"/>
              </a:ext>
            </a:extLst>
          </p:cNvPr>
          <p:cNvSpPr>
            <a:spLocks noGrp="1"/>
          </p:cNvSpPr>
          <p:nvPr/>
        </p:nvSpPr>
        <p:spPr>
          <a:xfrm>
            <a:off x="3067050" y="26098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2E02CB-B884-4A54-A069-06D7ED667333}"/>
              </a:ext>
            </a:extLst>
          </p:cNvPr>
          <p:cNvSpPr>
            <a:spLocks noGrp="1"/>
          </p:cNvSpPr>
          <p:nvPr/>
        </p:nvSpPr>
        <p:spPr>
          <a:xfrm>
            <a:off x="3067050" y="2914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Drive trigger, chunking, embeddings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67F238-BB09-424A-B549-B07B876BBA14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809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B2522C-D120-4F6A-A9E9-BD20941C123B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809750" cy="76200"/>
          </a:xfrm>
          <a:prstGeom prst="rect">
            <a:avLst/>
          </a:prstGeom>
          <a:solidFill>
            <a:srgbClr val="1E36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A54057-FC64-43EC-87F1-B8668A5371F1}"/>
              </a:ext>
            </a:extLst>
          </p:cNvPr>
          <p:cNvSpPr>
            <a:spLocks noGrp="1"/>
          </p:cNvSpPr>
          <p:nvPr/>
        </p:nvSpPr>
        <p:spPr>
          <a:xfrm>
            <a:off x="5219700" y="26098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Pinecone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EB9B7F-3257-4FE6-8492-8EA8ECF7993D}"/>
              </a:ext>
            </a:extLst>
          </p:cNvPr>
          <p:cNvSpPr>
            <a:spLocks noGrp="1"/>
          </p:cNvSpPr>
          <p:nvPr/>
        </p:nvSpPr>
        <p:spPr>
          <a:xfrm>
            <a:off x="5219700" y="2914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Namespace: SpaceKonceptRental_kb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76492-F3B7-43DA-9AB2-754E7B168330}"/>
              </a:ext>
            </a:extLst>
          </p:cNvPr>
          <p:cNvSpPr>
            <a:spLocks noGrp="1"/>
          </p:cNvSpPr>
          <p:nvPr/>
        </p:nvSpPr>
        <p:spPr>
          <a:xfrm>
            <a:off x="7219950" y="2400300"/>
            <a:ext cx="1809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14BAFF-0953-405B-B662-6646239435E3}"/>
              </a:ext>
            </a:extLst>
          </p:cNvPr>
          <p:cNvSpPr>
            <a:spLocks noGrp="1"/>
          </p:cNvSpPr>
          <p:nvPr/>
        </p:nvSpPr>
        <p:spPr>
          <a:xfrm>
            <a:off x="7219950" y="2400300"/>
            <a:ext cx="1809750" cy="76200"/>
          </a:xfrm>
          <a:prstGeom prst="rect">
            <a:avLst/>
          </a:prstGeom>
          <a:solidFill>
            <a:srgbClr val="C65F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FD56E3-D518-4233-8110-5211BD14FAFA}"/>
              </a:ext>
            </a:extLst>
          </p:cNvPr>
          <p:cNvSpPr>
            <a:spLocks noGrp="1"/>
          </p:cNvSpPr>
          <p:nvPr/>
        </p:nvSpPr>
        <p:spPr>
          <a:xfrm>
            <a:off x="7372350" y="26098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Chat agent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5262E5-8C6C-49A0-9735-7B105818D927}"/>
              </a:ext>
            </a:extLst>
          </p:cNvPr>
          <p:cNvSpPr>
            <a:spLocks noGrp="1"/>
          </p:cNvSpPr>
          <p:nvPr/>
        </p:nvSpPr>
        <p:spPr>
          <a:xfrm>
            <a:off x="7372350" y="2914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Retrieval, strict JSON response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8F357B-C6FB-4F78-B674-E7B765379D99}"/>
              </a:ext>
            </a:extLst>
          </p:cNvPr>
          <p:cNvSpPr>
            <a:spLocks noGrp="1"/>
          </p:cNvSpPr>
          <p:nvPr/>
        </p:nvSpPr>
        <p:spPr>
          <a:xfrm>
            <a:off x="9372600" y="2400300"/>
            <a:ext cx="1809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C771C2-17EB-406E-A943-64369E6EC3E9}"/>
              </a:ext>
            </a:extLst>
          </p:cNvPr>
          <p:cNvSpPr>
            <a:spLocks noGrp="1"/>
          </p:cNvSpPr>
          <p:nvPr/>
        </p:nvSpPr>
        <p:spPr>
          <a:xfrm>
            <a:off x="9372600" y="2400300"/>
            <a:ext cx="1809750" cy="76200"/>
          </a:xfrm>
          <a:prstGeom prst="rect">
            <a:avLst/>
          </a:prstGeom>
          <a:solidFill>
            <a:srgbClr val="4D8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429DFF-FB7B-4C04-8740-C4B0D920580E}"/>
              </a:ext>
            </a:extLst>
          </p:cNvPr>
          <p:cNvSpPr>
            <a:spLocks noGrp="1"/>
          </p:cNvSpPr>
          <p:nvPr/>
        </p:nvSpPr>
        <p:spPr>
          <a:xfrm>
            <a:off x="9525000" y="26098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B674D6-2EF9-4805-9282-A2485C1CA5CF}"/>
              </a:ext>
            </a:extLst>
          </p:cNvPr>
          <p:cNvSpPr>
            <a:spLocks noGrp="1"/>
          </p:cNvSpPr>
          <p:nvPr/>
        </p:nvSpPr>
        <p:spPr>
          <a:xfrm>
            <a:off x="9525000" y="29146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Sheets logging and Gmail alerts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B6886B-783A-4ECB-B324-FE35D2BBC568}"/>
              </a:ext>
            </a:extLst>
          </p:cNvPr>
          <p:cNvSpPr>
            <a:spLocks noGrp="1"/>
          </p:cNvSpPr>
          <p:nvPr/>
        </p:nvSpPr>
        <p:spPr>
          <a:xfrm>
            <a:off x="762000" y="4171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Workflow exports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4B9CA2-A6A1-402B-9D21-DE6F94E2BC31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76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 Global Error Handler</a:t>
            </a:r>
          </a:p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 KB Ingestion to Pinecone</a:t>
            </a:r>
          </a:p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 RAG Customer Support Agent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639102-9BD5-4A0A-9E3F-433687FCFC7A}"/>
              </a:ext>
            </a:extLst>
          </p:cNvPr>
          <p:cNvSpPr>
            <a:spLocks noGrp="1"/>
          </p:cNvSpPr>
          <p:nvPr/>
        </p:nvSpPr>
        <p:spPr>
          <a:xfrm>
            <a:off x="6477000" y="417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Operational records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B5A025-CFB9-4C33-BF5C-BBEF04BE6466}"/>
              </a:ext>
            </a:extLst>
          </p:cNvPr>
          <p:cNvSpPr>
            <a:spLocks noGrp="1"/>
          </p:cNvSpPr>
          <p:nvPr/>
        </p:nvSpPr>
        <p:spPr>
          <a:xfrm>
            <a:off x="6477000" y="4514850"/>
            <a:ext cx="4095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conversations, leads, tickets, unanswered_questions, kb_ingestion, failures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8F587C-B497-4A06-942A-CCD3C0AB727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03F66B-922F-4D94-8C25-60D80009D09E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718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1CACB68-41FC-4225-AFB1-97482A4BFD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09EC4-9203-4BC7-A467-D16675ADE5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D2ACD8-DF50-4E82-89E4-E111E6C1A2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RAG KNOWLEDGE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35D25-E097-44C5-86B8-2E9EEE94532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Markdown files keep retrieval factual and easy to inspect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2275C-993C-4FA9-9923-34188BE8048C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838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old Q&amp;A script was converted into KB-style reference material.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09D990-B912-4908-B1AA-9F55367B2A54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16002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E03EED-BAAC-4D86-AF53-CB5D67C2E2EB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69BB0-3993-4677-ADAC-49CC647F6B1D}"/>
              </a:ext>
            </a:extLst>
          </p:cNvPr>
          <p:cNvSpPr>
            <a:spLocks noGrp="1"/>
          </p:cNvSpPr>
          <p:nvPr/>
        </p:nvSpPr>
        <p:spPr>
          <a:xfrm>
            <a:off x="952500" y="274320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RAG-ready Markdown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25FA5A-089A-4046-A3E3-89BF83C360E3}"/>
              </a:ext>
            </a:extLst>
          </p:cNvPr>
          <p:cNvSpPr>
            <a:spLocks noGrp="1"/>
          </p:cNvSpPr>
          <p:nvPr/>
        </p:nvSpPr>
        <p:spPr>
          <a:xfrm>
            <a:off x="2686050" y="2209800"/>
            <a:ext cx="16002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70184A-4E45-4724-B3F9-0043D6D8D6BA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992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992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41518-816E-49F3-892F-0C50B6C5069B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n8n workflow exports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1352B0-02B7-484C-9D06-06E979482E17}"/>
              </a:ext>
            </a:extLst>
          </p:cNvPr>
          <p:cNvSpPr>
            <a:spLocks noGrp="1"/>
          </p:cNvSpPr>
          <p:nvPr/>
        </p:nvSpPr>
        <p:spPr>
          <a:xfrm>
            <a:off x="4591050" y="2209800"/>
            <a:ext cx="16002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F5145F-975B-4E6D-B672-DEF0FA66F818}"/>
              </a:ext>
            </a:extLst>
          </p:cNvPr>
          <p:cNvSpPr>
            <a:spLocks noGrp="1"/>
          </p:cNvSpPr>
          <p:nvPr/>
        </p:nvSpPr>
        <p:spPr>
          <a:xfrm>
            <a:off x="4762500" y="238125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E365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365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1A4EC3-25DA-4031-915A-6CA19FD80186}"/>
              </a:ext>
            </a:extLst>
          </p:cNvPr>
          <p:cNvSpPr>
            <a:spLocks noGrp="1"/>
          </p:cNvSpPr>
          <p:nvPr/>
        </p:nvSpPr>
        <p:spPr>
          <a:xfrm>
            <a:off x="4762500" y="2743200"/>
            <a:ext cx="1257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Sheets log tabs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33ECF6-3582-4912-9AF9-097CD61F06AC}"/>
              </a:ext>
            </a:extLst>
          </p:cNvPr>
          <p:cNvSpPr>
            <a:spLocks noGrp="1"/>
          </p:cNvSpPr>
          <p:nvPr/>
        </p:nvSpPr>
        <p:spPr>
          <a:xfrm>
            <a:off x="6934200" y="2038350"/>
            <a:ext cx="40767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80270-9986-41EF-82FB-C1CFAE22FC78}"/>
              </a:ext>
            </a:extLst>
          </p:cNvPr>
          <p:cNvSpPr>
            <a:spLocks noGrp="1"/>
          </p:cNvSpPr>
          <p:nvPr/>
        </p:nvSpPr>
        <p:spPr>
          <a:xfrm>
            <a:off x="6934200" y="2038350"/>
            <a:ext cx="57150" cy="120015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4ECF9C-BC21-42F6-91B2-A524994C0E2F}"/>
              </a:ext>
            </a:extLst>
          </p:cNvPr>
          <p:cNvSpPr>
            <a:spLocks noGrp="1"/>
          </p:cNvSpPr>
          <p:nvPr/>
        </p:nvSpPr>
        <p:spPr>
          <a:xfrm>
            <a:off x="7143750" y="2228850"/>
            <a:ext cx="3657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EF0EB4-D01C-42EE-8ECC-C4ADF5B336E6}"/>
              </a:ext>
            </a:extLst>
          </p:cNvPr>
          <p:cNvSpPr>
            <a:spLocks noGrp="1"/>
          </p:cNvSpPr>
          <p:nvPr/>
        </p:nvSpPr>
        <p:spPr>
          <a:xfrm>
            <a:off x="7143750" y="2571750"/>
            <a:ext cx="3657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Intent and handoff labels were removed from the KB. Routing remains in the agent prompt and n8n IF nodes.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C2FDEA-FBA4-4B86-ADFB-57B4569DB4BB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3200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29FD75-B4EC-4415-B6AA-EE6F129E8337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57150" cy="1238250"/>
          </a:xfrm>
          <a:prstGeom prst="rect">
            <a:avLst/>
          </a:prstGeom>
          <a:solidFill>
            <a:srgbClr val="4D8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85FD64-DF44-4057-B6E5-0A3CB4C63733}"/>
              </a:ext>
            </a:extLst>
          </p:cNvPr>
          <p:cNvSpPr>
            <a:spLocks noGrp="1"/>
          </p:cNvSpPr>
          <p:nvPr/>
        </p:nvSpPr>
        <p:spPr>
          <a:xfrm>
            <a:off x="990600" y="4057650"/>
            <a:ext cx="2781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FAQ and service scope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53C8CA-4ED2-404D-B491-B5835D8EDF25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Service overview, rental process, quote request details, delivery questions, and chatbot limits.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1CEE9B-3E3E-46E3-85A9-A5FD9001E924}"/>
              </a:ext>
            </a:extLst>
          </p:cNvPr>
          <p:cNvSpPr>
            <a:spLocks noGrp="1"/>
          </p:cNvSpPr>
          <p:nvPr/>
        </p:nvSpPr>
        <p:spPr>
          <a:xfrm>
            <a:off x="4495800" y="3867150"/>
            <a:ext cx="32004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6E9768-327B-4A8D-B9D0-872D1DB81388}"/>
              </a:ext>
            </a:extLst>
          </p:cNvPr>
          <p:cNvSpPr>
            <a:spLocks noGrp="1"/>
          </p:cNvSpPr>
          <p:nvPr/>
        </p:nvSpPr>
        <p:spPr>
          <a:xfrm>
            <a:off x="4495800" y="3867150"/>
            <a:ext cx="57150" cy="1238250"/>
          </a:xfrm>
          <a:prstGeom prst="rect">
            <a:avLst/>
          </a:prstGeom>
          <a:solidFill>
            <a:srgbClr val="C65F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1B2A2D-532E-4BFB-94F3-083CA49A3282}"/>
              </a:ext>
            </a:extLst>
          </p:cNvPr>
          <p:cNvSpPr>
            <a:spLocks noGrp="1"/>
          </p:cNvSpPr>
          <p:nvPr/>
        </p:nvSpPr>
        <p:spPr>
          <a:xfrm>
            <a:off x="4705350" y="4057650"/>
            <a:ext cx="2781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Terms and privacy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0773C3-CEC4-4B19-B315-3E8C88F7D0B4}"/>
              </a:ext>
            </a:extLst>
          </p:cNvPr>
          <p:cNvSpPr>
            <a:spLocks noGrp="1"/>
          </p:cNvSpPr>
          <p:nvPr/>
        </p:nvSpPr>
        <p:spPr>
          <a:xfrm>
            <a:off x="4705350" y="4400550"/>
            <a:ext cx="2781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Draft policy material is separated and marked for business/legal review before production.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E087E6-8D0E-4E55-8855-C8A14919EA0C}"/>
              </a:ext>
            </a:extLst>
          </p:cNvPr>
          <p:cNvSpPr>
            <a:spLocks noGrp="1"/>
          </p:cNvSpPr>
          <p:nvPr/>
        </p:nvSpPr>
        <p:spPr>
          <a:xfrm>
            <a:off x="8210550" y="3867150"/>
            <a:ext cx="28003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D18367-71B5-440F-AA12-AEDF51709467}"/>
              </a:ext>
            </a:extLst>
          </p:cNvPr>
          <p:cNvSpPr>
            <a:spLocks noGrp="1"/>
          </p:cNvSpPr>
          <p:nvPr/>
        </p:nvSpPr>
        <p:spPr>
          <a:xfrm>
            <a:off x="8210550" y="3867150"/>
            <a:ext cx="57150" cy="1238250"/>
          </a:xfrm>
          <a:prstGeom prst="rect">
            <a:avLst/>
          </a:prstGeom>
          <a:solidFill>
            <a:srgbClr val="C992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61E8ED-B955-497A-80A8-77AC08283A24}"/>
              </a:ext>
            </a:extLst>
          </p:cNvPr>
          <p:cNvSpPr>
            <a:spLocks noGrp="1"/>
          </p:cNvSpPr>
          <p:nvPr/>
        </p:nvSpPr>
        <p:spPr>
          <a:xfrm>
            <a:off x="8420100" y="40576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Catalogue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4ECFCC-5DE5-43F2-B72F-8456C93A259D}"/>
              </a:ext>
            </a:extLst>
          </p:cNvPr>
          <p:cNvSpPr>
            <a:spLocks noGrp="1"/>
          </p:cNvSpPr>
          <p:nvPr/>
        </p:nvSpPr>
        <p:spPr>
          <a:xfrm>
            <a:off x="8420100" y="440055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Product categories are summarised for broad answers; final availability and pricing still require team confirmation.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73E5B2-D625-4FB3-90FC-07416689CCC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3A05FE-6A87-44B5-B2F0-3B0FC4D2D103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116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B93DE47-22CB-4E99-9DB1-1DD2939BD3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D7DCA6-4C44-4B14-999B-DE25119EDE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75CE89-B9E4-4934-99DC-748B903064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DEMO AND TEST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720140-D319-4540-AEB3-6B7A8C2935A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Presentation demo can show the full support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F87EF-4591-47AC-9517-F635FA5A7BE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048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C1D473-75F3-492E-B568-9A167CACC080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57150" cy="13335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1A12DB-EE9C-4B9D-B7D2-D52E9605478B}"/>
              </a:ext>
            </a:extLst>
          </p:cNvPr>
          <p:cNvSpPr>
            <a:spLocks noGrp="1"/>
          </p:cNvSpPr>
          <p:nvPr/>
        </p:nvSpPr>
        <p:spPr>
          <a:xfrm>
            <a:off x="1009650" y="2286000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1. Ingest KB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1F0506-9918-41E4-93CF-671E5F90549D}"/>
              </a:ext>
            </a:extLst>
          </p:cNvPr>
          <p:cNvSpPr>
            <a:spLocks noGrp="1"/>
          </p:cNvSpPr>
          <p:nvPr/>
        </p:nvSpPr>
        <p:spPr>
          <a:xfrm>
            <a:off x="1009650" y="2628900"/>
            <a:ext cx="2628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Upload kb/*.md to the Drive folder and run the ingestion workflow. Confirm Pinecone and kb_ingestion rows.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28442-CBED-40EC-AC57-D6072BB4B29D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3048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6C470C-9358-43E2-AFD1-2C48065996ED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57150" cy="1333500"/>
          </a:xfrm>
          <a:prstGeom prst="rect">
            <a:avLst/>
          </a:prstGeom>
          <a:solidFill>
            <a:srgbClr val="4D8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007F0E-7FD1-4223-98D5-B8D5E8CEDB89}"/>
              </a:ext>
            </a:extLst>
          </p:cNvPr>
          <p:cNvSpPr>
            <a:spLocks noGrp="1"/>
          </p:cNvSpPr>
          <p:nvPr/>
        </p:nvSpPr>
        <p:spPr>
          <a:xfrm>
            <a:off x="4781550" y="2286000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2. Ask FAQ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34EF1C-38D8-4BC7-8EC4-1BFF1AD8586A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628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Ask how rental works. The answer should cite KB facts and complete a conversation row.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81C3A7-C061-48B9-A7DC-E98A4C063BC0}"/>
              </a:ext>
            </a:extLst>
          </p:cNvPr>
          <p:cNvSpPr>
            <a:spLocks noGrp="1"/>
          </p:cNvSpPr>
          <p:nvPr/>
        </p:nvSpPr>
        <p:spPr>
          <a:xfrm>
            <a:off x="8343900" y="2095500"/>
            <a:ext cx="30480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81E9F3-5020-4670-A556-999B4459B76B}"/>
              </a:ext>
            </a:extLst>
          </p:cNvPr>
          <p:cNvSpPr>
            <a:spLocks noGrp="1"/>
          </p:cNvSpPr>
          <p:nvPr/>
        </p:nvSpPr>
        <p:spPr>
          <a:xfrm>
            <a:off x="8343900" y="2095500"/>
            <a:ext cx="57150" cy="1333500"/>
          </a:xfrm>
          <a:prstGeom prst="rect">
            <a:avLst/>
          </a:prstGeom>
          <a:solidFill>
            <a:srgbClr val="C992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D791D0-FC81-4D0D-ABD0-37B2F26D8DFB}"/>
              </a:ext>
            </a:extLst>
          </p:cNvPr>
          <p:cNvSpPr>
            <a:spLocks noGrp="1"/>
          </p:cNvSpPr>
          <p:nvPr/>
        </p:nvSpPr>
        <p:spPr>
          <a:xfrm>
            <a:off x="8553450" y="2286000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3. Route actions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3FFF3D-B06C-4A47-B106-4D3F0F51E8DD}"/>
              </a:ext>
            </a:extLst>
          </p:cNvPr>
          <p:cNvSpPr>
            <a:spLocks noGrp="1"/>
          </p:cNvSpPr>
          <p:nvPr/>
        </p:nvSpPr>
        <p:spPr>
          <a:xfrm>
            <a:off x="8553450" y="2628900"/>
            <a:ext cx="2628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Ask booking, ticket, lead, pricing, and angry-customer prompts. Confirm Sheets and Gmail outputs.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8F9CD9-DB3E-4F2B-ABB0-48109ED5EC39}"/>
              </a:ext>
            </a:extLst>
          </p:cNvPr>
          <p:cNvSpPr>
            <a:spLocks noGrp="1"/>
          </p:cNvSpPr>
          <p:nvPr/>
        </p:nvSpPr>
        <p:spPr>
          <a:xfrm>
            <a:off x="2686050" y="40767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402ECD-276F-4997-874E-D5D0A167D8B8}"/>
              </a:ext>
            </a:extLst>
          </p:cNvPr>
          <p:cNvSpPr>
            <a:spLocks noGrp="1"/>
          </p:cNvSpPr>
          <p:nvPr/>
        </p:nvSpPr>
        <p:spPr>
          <a:xfrm>
            <a:off x="2686050" y="4076700"/>
            <a:ext cx="57150" cy="1219200"/>
          </a:xfrm>
          <a:prstGeom prst="rect">
            <a:avLst/>
          </a:prstGeom>
          <a:solidFill>
            <a:srgbClr val="1E365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E781E7-57C6-4F4E-B43A-C6D5055D9746}"/>
              </a:ext>
            </a:extLst>
          </p:cNvPr>
          <p:cNvSpPr>
            <a:spLocks noGrp="1"/>
          </p:cNvSpPr>
          <p:nvPr/>
        </p:nvSpPr>
        <p:spPr>
          <a:xfrm>
            <a:off x="2895600" y="4267200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4. Duplicate safety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545F50-FEB9-4FA9-B4EF-0CF7C9D2BEBC}"/>
              </a:ext>
            </a:extLst>
          </p:cNvPr>
          <p:cNvSpPr>
            <a:spLocks noGrp="1"/>
          </p:cNvSpPr>
          <p:nvPr/>
        </p:nvSpPr>
        <p:spPr>
          <a:xfrm>
            <a:off x="2895600" y="4610100"/>
            <a:ext cx="2628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Send the same message_id twice and confirm no duplicate business action.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2D89C0-F30D-4966-B22A-A0D240AB067F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30480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0F8BD5-0504-468A-8263-B2954A7BA49E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57150" cy="1219200"/>
          </a:xfrm>
          <a:prstGeom prst="rect">
            <a:avLst/>
          </a:prstGeom>
          <a:solidFill>
            <a:srgbClr val="C65F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E483AC-3E86-414B-BAFE-DEEF7FBDBB73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2628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5. Error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A7F26C-C01D-4B58-B386-B01D11231053}"/>
              </a:ext>
            </a:extLst>
          </p:cNvPr>
          <p:cNvSpPr>
            <a:spLocks noGrp="1"/>
          </p:cNvSpPr>
          <p:nvPr/>
        </p:nvSpPr>
        <p:spPr>
          <a:xfrm>
            <a:off x="6667500" y="4610100"/>
            <a:ext cx="2628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Trigger a controlled failure and confirm the failures sheet plus Gmail alert.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63DB43-7622-4CE3-92E3-3E7AD9AC1FC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2738E4-0002-4E5E-94D0-314EB2EC4817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056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869E41E-C2F5-4133-96B7-5A0ADB5F76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1FB8AD-7D63-462D-BD67-DD544FBB7A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9FE7C4-DB8C-4F4C-9873-68EE7BC8DCA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READINESS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6A29C7-EF35-49FD-9BEB-7A0F5BF6EAB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8477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Ready for capstone walkthrough; not yet production deployment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076CD-B8F4-41AE-8F1C-6604C45F054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838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Live route testing is complete for the capstone demo; remaining work is production hardening.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26590-87B5-4647-B74D-87613E0471CF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572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C9BE97-5FC1-4028-9C1C-0A5DC6189324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57150" cy="1257300"/>
          </a:xfrm>
          <a:prstGeom prst="rect">
            <a:avLst/>
          </a:prstGeom>
          <a:solidFill>
            <a:srgbClr val="4D8B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347F14-A6E6-43B9-AC0B-1D01DB2D2365}"/>
              </a:ext>
            </a:extLst>
          </p:cNvPr>
          <p:cNvSpPr>
            <a:spLocks noGrp="1"/>
          </p:cNvSpPr>
          <p:nvPr/>
        </p:nvSpPr>
        <p:spPr>
          <a:xfrm>
            <a:off x="1066800" y="2286000"/>
            <a:ext cx="415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Ready for presentation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5B5D30-7737-4CCE-B283-9434349155E3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4152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Workflow JSON validates locally. KB files are cleaned and separated. Demo story maps to the official customer-support capstone deliverables.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D1082B-D24A-43B8-B825-1310C13C8CD1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45720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BCB8CB-0A9D-4846-BDE4-C5250CFB15D6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57150" cy="1257300"/>
          </a:xfrm>
          <a:prstGeom prst="rect">
            <a:avLst/>
          </a:prstGeom>
          <a:solidFill>
            <a:srgbClr val="C992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A7690-91EF-4149-B435-FE9E30FF370F}"/>
              </a:ext>
            </a:extLst>
          </p:cNvPr>
          <p:cNvSpPr>
            <a:spLocks noGrp="1"/>
          </p:cNvSpPr>
          <p:nvPr/>
        </p:nvSpPr>
        <p:spPr>
          <a:xfrm>
            <a:off x="6972300" y="2286000"/>
            <a:ext cx="415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Live proof captured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40DEAA-151E-4666-89CB-FBB944949077}"/>
              </a:ext>
            </a:extLst>
          </p:cNvPr>
          <p:cNvSpPr>
            <a:spLocks noGrp="1"/>
          </p:cNvSpPr>
          <p:nvPr/>
        </p:nvSpPr>
        <p:spPr>
          <a:xfrm>
            <a:off x="6972300" y="2628900"/>
            <a:ext cx="4152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End-to-end chatbot execution, Sheets logging, Gmail alerts, route coverage, and error handling evidence were captured for the walkthrough.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D54A2D-BB8D-40AD-A4DC-5CB761B6F385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4572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87A588-81EA-4758-84C5-F0EA71248E0A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57150" cy="1181100"/>
          </a:xfrm>
          <a:prstGeom prst="rect">
            <a:avLst/>
          </a:prstGeom>
          <a:solidFill>
            <a:srgbClr val="C65F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6BEEBF-DAD1-4195-9D70-5FE7A9088C77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415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Before production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7B1375-41D3-48F9-9D76-AE341FA22581}"/>
              </a:ext>
            </a:extLst>
          </p:cNvPr>
          <p:cNvSpPr>
            <a:spLocks noGrp="1"/>
          </p:cNvSpPr>
          <p:nvPr/>
        </p:nvSpPr>
        <p:spPr>
          <a:xfrm>
            <a:off x="1066800" y="4457700"/>
            <a:ext cx="4152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Confirm business/legal facts, replace draft policy markers, review security, monitor executions, and test website or WhatsApp deployment.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F85BAF-DF30-4A7F-8F32-1057DCEC6386}"/>
              </a:ext>
            </a:extLst>
          </p:cNvPr>
          <p:cNvSpPr>
            <a:spLocks noGrp="1"/>
          </p:cNvSpPr>
          <p:nvPr/>
        </p:nvSpPr>
        <p:spPr>
          <a:xfrm>
            <a:off x="6762750" y="3924300"/>
            <a:ext cx="4572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CEC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D79CC-1793-427D-B8F9-082EB2A35F69}"/>
              </a:ext>
            </a:extLst>
          </p:cNvPr>
          <p:cNvSpPr>
            <a:spLocks noGrp="1"/>
          </p:cNvSpPr>
          <p:nvPr/>
        </p:nvSpPr>
        <p:spPr>
          <a:xfrm>
            <a:off x="6762750" y="3924300"/>
            <a:ext cx="57150" cy="1181100"/>
          </a:xfrm>
          <a:prstGeom prst="rect">
            <a:avLst/>
          </a:prstGeom>
          <a:solidFill>
            <a:srgbClr val="0D7C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4D1C17-2F2A-452C-B07B-C1B2ED2FBA9C}"/>
              </a:ext>
            </a:extLst>
          </p:cNvPr>
          <p:cNvSpPr>
            <a:spLocks noGrp="1"/>
          </p:cNvSpPr>
          <p:nvPr/>
        </p:nvSpPr>
        <p:spPr>
          <a:xfrm>
            <a:off x="6972300" y="4114800"/>
            <a:ext cx="415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Capstone talking point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123345-B360-481A-B6CD-5EA6FB49F672}"/>
              </a:ext>
            </a:extLst>
          </p:cNvPr>
          <p:cNvSpPr>
            <a:spLocks noGrp="1"/>
          </p:cNvSpPr>
          <p:nvPr/>
        </p:nvSpPr>
        <p:spPr>
          <a:xfrm>
            <a:off x="6972300" y="4457700"/>
            <a:ext cx="4152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is a practical n8n implementation of the brief: RAG answers, lead capture, ticketing, escalation, and operational logging.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DE1592-C8A1-4768-BC7C-D3FE1671E04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F692D3-EB86-4AB9-9B3A-5F161807FEE6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8551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Website Chat Deployment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Customer submits a rental enquiry through the embedded website chatbot.</a:t>
            </a:r>
            <a:endParaRPr lang="en-US" sz="1400"/>
          </a:p>
        </p:txBody>
      </p:sp>
      <p:pic>
        <p:nvPicPr>
          <p:cNvPr id="4" name="01-website-cha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90" y="1130000"/>
            <a:ext cx="9262420" cy="5208000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07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Customer Support Agent Workflow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Chat intake flows through debounce, RAG answer, logging, routing, notifications, escalation, and fallback.</a:t>
            </a:r>
            <a:endParaRPr lang="en-US" sz="1400"/>
          </a:p>
        </p:txBody>
      </p:sp>
      <p:pic>
        <p:nvPicPr>
          <p:cNvPr id="4" name="02-main-ag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4843"/>
            <a:ext cx="11277600" cy="5138314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08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RAG Knowledge Base Ingestion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Google Drive KB files are prepared, cleaned, embedded, indexed in Pinecone, and logged for audit.</a:t>
            </a:r>
            <a:endParaRPr lang="en-US" sz="1400"/>
          </a:p>
        </p:txBody>
      </p:sp>
      <p:pic>
        <p:nvPicPr>
          <p:cNvPr id="4" name="03-rag-ingestio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5870"/>
            <a:ext cx="11277600" cy="4736260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09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Ingestion Audit Log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Each KB update records file name, status, chunk count, namespace, execution ID, and SGT timestamp.</a:t>
            </a:r>
            <a:endParaRPr lang="en-US" sz="1400"/>
          </a:p>
        </p:txBody>
      </p:sp>
      <p:pic>
        <p:nvPicPr>
          <p:cNvPr id="4" name="04-kb-ingestion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14" y="1130000"/>
            <a:ext cx="9013171" cy="5208000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Conversation Log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The workflow stores the customer message, bot reply, intent, status, escalation flag, and lead capture result.</a:t>
            </a:r>
            <a:endParaRPr lang="en-US" sz="1400"/>
          </a:p>
        </p:txBody>
      </p:sp>
      <p:pic>
        <p:nvPicPr>
          <p:cNvPr id="4" name="05-conversation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8615"/>
            <a:ext cx="11277600" cy="5150770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Lead Capture Log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Extracted customer and event details are written as a follow-up-ready lead record.</a:t>
            </a:r>
            <a:endParaRPr lang="en-US" sz="1400"/>
          </a:p>
        </p:txBody>
      </p:sp>
      <p:pic>
        <p:nvPicPr>
          <p:cNvPr id="4" name="06-lead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4080"/>
            <a:ext cx="11277600" cy="5159839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Sales Follow-Up Notification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Qualified leads are emailed to the team with customer details and the conversation transcript.</a:t>
            </a:r>
            <a:endParaRPr lang="en-US" sz="1400"/>
          </a:p>
        </p:txBody>
      </p:sp>
      <p:pic>
        <p:nvPicPr>
          <p:cNvPr id="4" name="07-lead-email-no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23" y="1130000"/>
            <a:ext cx="11077753" cy="5208000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/>
        </p:nvSpPr>
        <p:spPr>
          <a:xfrm>
            <a:off x="457200" y="240000"/>
            <a:ext cx="9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000" b="1">
                <a:solidFill>
                  <a:srgbClr val="1C2430"/>
                </a:solidFill>
                <a:latin typeface="Aptos"/>
              </a:rPr>
              <a:t>Failure Handling</a:t>
            </a:r>
            <a:endParaRPr lang="en-US" sz="3000"/>
          </a:p>
        </p:txBody>
      </p:sp>
      <p:sp>
        <p:nvSpPr>
          <p:cNvPr id="3" name="Slide caption"/>
          <p:cNvSpPr>
            <a:spLocks noGrp="1"/>
          </p:cNvSpPr>
          <p:nvPr/>
        </p:nvSpPr>
        <p:spPr>
          <a:xfrm>
            <a:off x="457200" y="67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>
                <a:solidFill>
                  <a:srgbClr val="5A6675"/>
                </a:solidFill>
                <a:latin typeface="Aptos"/>
              </a:rPr>
              <a:t>Workflow errors are normalised, logged, and alerted separately from the customer-facing fallback reply.</a:t>
            </a:r>
            <a:endParaRPr lang="en-US" sz="1400"/>
          </a:p>
        </p:txBody>
      </p:sp>
      <p:pic>
        <p:nvPicPr>
          <p:cNvPr id="4" name="08-global-error-hand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38" y="1130000"/>
            <a:ext cx="10805323" cy="5208000"/>
          </a:xfrm>
          <a:prstGeom prst="rect">
            <a:avLst/>
          </a:prstGeom>
          <a:ln w="12700">
            <a:solidFill>
              <a:srgbClr val="D9DEE6"/>
            </a:solidFill>
          </a:ln>
        </p:spPr>
      </p:pic>
      <p:sp>
        <p:nvSpPr>
          <p:cNvPr id="5" name="Footer"/>
          <p:cNvSpPr>
            <a:spLocks noGrp="1"/>
          </p:cNvSpPr>
          <p:nvPr/>
        </p:nvSpPr>
        <p:spPr>
          <a:xfrm>
            <a:off x="4572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 evidence</a:t>
            </a:r>
            <a:endParaRPr lang="en-US" sz="900"/>
          </a:p>
        </p:txBody>
      </p:sp>
      <p:sp>
        <p:nvSpPr>
          <p:cNvPr id="6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/>
        </p:nvSpPr>
        <p:spPr>
          <a:xfrm>
            <a:off x="610000" y="380000"/>
            <a:ext cx="5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50" b="1">
                <a:solidFill>
                  <a:srgbClr val="D72F45"/>
                </a:solidFill>
                <a:latin typeface="Aptos"/>
              </a:rPr>
              <a:t>IMPLEMENTATION LEARNINGS</a:t>
            </a:r>
            <a:endParaRPr lang="en-US" sz="850"/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10000" y="700000"/>
            <a:ext cx="8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200" b="1">
                <a:solidFill>
                  <a:srgbClr val="1C2430"/>
                </a:solidFill>
                <a:latin typeface="Aptos"/>
              </a:rPr>
              <a:t>Challenges faced</a:t>
            </a:r>
            <a:endParaRPr lang="en-US" sz="3200"/>
          </a:p>
        </p:txBody>
      </p:sp>
      <p:sp>
        <p:nvSpPr>
          <p:cNvPr id="4" name="Subtitle"/>
          <p:cNvSpPr>
            <a:spLocks noGrp="1"/>
          </p:cNvSpPr>
          <p:nvPr/>
        </p:nvSpPr>
        <p:spPr>
          <a:xfrm>
            <a:off x="610000" y="1190000"/>
            <a:ext cx="9800000" cy="29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50">
                <a:solidFill>
                  <a:srgbClr val="5A6675"/>
                </a:solidFill>
                <a:latin typeface="Aptos"/>
              </a:rPr>
              <a:t>The main issues were not the prompt alone; they were reliability, logging, data freshness, and graceful failure.</a:t>
            </a:r>
            <a:endParaRPr lang="en-US" sz="1250"/>
          </a:p>
        </p:txBody>
      </p:sp>
      <p:sp>
        <p:nvSpPr>
          <p:cNvPr id="10" name="Challenge card 1"/>
          <p:cNvSpPr>
            <a:spLocks noGrp="1"/>
          </p:cNvSpPr>
          <p:nvPr/>
        </p:nvSpPr>
        <p:spPr>
          <a:xfrm>
            <a:off x="610000" y="1640000"/>
            <a:ext cx="533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11" name="Challenge accent 1"/>
          <p:cNvSpPr>
            <a:spLocks noGrp="1"/>
          </p:cNvSpPr>
          <p:nvPr/>
        </p:nvSpPr>
        <p:spPr>
          <a:xfrm>
            <a:off x="610000" y="1640000"/>
            <a:ext cx="70000" cy="1880000"/>
          </a:xfrm>
          <a:prstGeom prst="roundRect">
            <a:avLst/>
          </a:prstGeom>
          <a:solidFill>
            <a:srgbClr val="1EA995"/>
          </a:solidFill>
          <a:ln w="12700">
            <a:solidFill>
              <a:srgbClr val="1EA995"/>
            </a:solidFill>
          </a:ln>
        </p:spPr>
      </p:sp>
      <p:sp>
        <p:nvSpPr>
          <p:cNvPr id="12" name="Challenge number 1"/>
          <p:cNvSpPr>
            <a:spLocks noGrp="1"/>
          </p:cNvSpPr>
          <p:nvPr/>
        </p:nvSpPr>
        <p:spPr>
          <a:xfrm>
            <a:off x="790000" y="1770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1EA995"/>
                </a:solidFill>
                <a:latin typeface="Aptos"/>
              </a:rPr>
              <a:t>01</a:t>
            </a:r>
            <a:endParaRPr lang="en-US" sz="900"/>
          </a:p>
        </p:txBody>
      </p:sp>
      <p:sp>
        <p:nvSpPr>
          <p:cNvPr id="13" name="Challenge title 1"/>
          <p:cNvSpPr>
            <a:spLocks noGrp="1"/>
          </p:cNvSpPr>
          <p:nvPr/>
        </p:nvSpPr>
        <p:spPr>
          <a:xfrm>
            <a:off x="1130000" y="1745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1C2430"/>
                </a:solidFill>
                <a:latin typeface="Aptos"/>
              </a:rPr>
              <a:t>Rapid multi-message chats</a:t>
            </a:r>
            <a:endParaRPr lang="en-US" sz="1500"/>
          </a:p>
        </p:txBody>
      </p:sp>
      <p:sp>
        <p:nvSpPr>
          <p:cNvPr id="14" name="Challenge body 1"/>
          <p:cNvSpPr>
            <a:spLocks noGrp="1"/>
          </p:cNvSpPr>
          <p:nvPr/>
        </p:nvSpPr>
        <p:spPr>
          <a:xfrm>
            <a:off x="830000" y="2200000"/>
            <a:ext cx="4890000" cy="1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>
                <a:solidFill>
                  <a:srgbClr val="3F4B5B"/>
                </a:solidFill>
                <a:latin typeface="Aptos"/>
              </a:rPr>
              <a:t>Challenge: Users send one request as several quick messages.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Fix: Added 5-second debounce, newest-message ownership, and merged prompt text.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Lesson: Chat workflows need a small input buffer.</a:t>
            </a:r>
            <a:endParaRPr lang="en-US" sz="950"/>
          </a:p>
        </p:txBody>
      </p:sp>
      <p:sp>
        <p:nvSpPr>
          <p:cNvPr id="20" name="Challenge card 2"/>
          <p:cNvSpPr>
            <a:spLocks noGrp="1"/>
          </p:cNvSpPr>
          <p:nvPr/>
        </p:nvSpPr>
        <p:spPr>
          <a:xfrm>
            <a:off x="6240000" y="1640000"/>
            <a:ext cx="533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21" name="Challenge accent 2"/>
          <p:cNvSpPr>
            <a:spLocks noGrp="1"/>
          </p:cNvSpPr>
          <p:nvPr/>
        </p:nvSpPr>
        <p:spPr>
          <a:xfrm>
            <a:off x="6240000" y="1640000"/>
            <a:ext cx="70000" cy="1880000"/>
          </a:xfrm>
          <a:prstGeom prst="roundRect">
            <a:avLst/>
          </a:prstGeom>
          <a:solidFill>
            <a:srgbClr val="D72F45"/>
          </a:solidFill>
          <a:ln w="12700">
            <a:solidFill>
              <a:srgbClr val="D72F45"/>
            </a:solidFill>
          </a:ln>
        </p:spPr>
      </p:sp>
      <p:sp>
        <p:nvSpPr>
          <p:cNvPr id="22" name="Challenge number 2"/>
          <p:cNvSpPr>
            <a:spLocks noGrp="1"/>
          </p:cNvSpPr>
          <p:nvPr/>
        </p:nvSpPr>
        <p:spPr>
          <a:xfrm>
            <a:off x="6420000" y="1770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D72F45"/>
                </a:solidFill>
                <a:latin typeface="Aptos"/>
              </a:rPr>
              <a:t>02</a:t>
            </a:r>
            <a:endParaRPr lang="en-US" sz="900"/>
          </a:p>
        </p:txBody>
      </p:sp>
      <p:sp>
        <p:nvSpPr>
          <p:cNvPr id="23" name="Challenge title 2"/>
          <p:cNvSpPr>
            <a:spLocks noGrp="1"/>
          </p:cNvSpPr>
          <p:nvPr/>
        </p:nvSpPr>
        <p:spPr>
          <a:xfrm>
            <a:off x="6760000" y="1745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1C2430"/>
                </a:solidFill>
                <a:latin typeface="Aptos"/>
              </a:rPr>
              <a:t>Knowledge-base updates</a:t>
            </a:r>
            <a:endParaRPr lang="en-US" sz="1500"/>
          </a:p>
        </p:txBody>
      </p:sp>
      <p:sp>
        <p:nvSpPr>
          <p:cNvPr id="24" name="Challenge body 2"/>
          <p:cNvSpPr>
            <a:spLocks noGrp="1"/>
          </p:cNvSpPr>
          <p:nvPr/>
        </p:nvSpPr>
        <p:spPr>
          <a:xfrm>
            <a:off x="6460000" y="2200000"/>
            <a:ext cx="4890000" cy="1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>
                <a:solidFill>
                  <a:srgbClr val="3F4B5B"/>
                </a:solidFill>
                <a:latin typeface="Aptos"/>
              </a:rPr>
              <a:t>Challenge: Repeated file updates duplicated Pinecone chunks.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Fix: Delete stale vectors by file ID or name before inserting fresh chunks.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Lesson: RAG ingestion needs explicit update semantics.</a:t>
            </a:r>
            <a:endParaRPr lang="en-US" sz="950"/>
          </a:p>
        </p:txBody>
      </p:sp>
      <p:sp>
        <p:nvSpPr>
          <p:cNvPr id="30" name="Challenge card 3"/>
          <p:cNvSpPr>
            <a:spLocks noGrp="1"/>
          </p:cNvSpPr>
          <p:nvPr/>
        </p:nvSpPr>
        <p:spPr>
          <a:xfrm>
            <a:off x="610000" y="3770000"/>
            <a:ext cx="533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31" name="Challenge accent 3"/>
          <p:cNvSpPr>
            <a:spLocks noGrp="1"/>
          </p:cNvSpPr>
          <p:nvPr/>
        </p:nvSpPr>
        <p:spPr>
          <a:xfrm>
            <a:off x="610000" y="3770000"/>
            <a:ext cx="70000" cy="1880000"/>
          </a:xfrm>
          <a:prstGeom prst="roundRect">
            <a:avLst/>
          </a:prstGeom>
          <a:solidFill>
            <a:srgbClr val="335C81"/>
          </a:solidFill>
          <a:ln w="12700">
            <a:solidFill>
              <a:srgbClr val="335C81"/>
            </a:solidFill>
          </a:ln>
        </p:spPr>
      </p:sp>
      <p:sp>
        <p:nvSpPr>
          <p:cNvPr id="32" name="Challenge number 3"/>
          <p:cNvSpPr>
            <a:spLocks noGrp="1"/>
          </p:cNvSpPr>
          <p:nvPr/>
        </p:nvSpPr>
        <p:spPr>
          <a:xfrm>
            <a:off x="790000" y="3900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335C81"/>
                </a:solidFill>
                <a:latin typeface="Aptos"/>
              </a:rPr>
              <a:t>03</a:t>
            </a:r>
            <a:endParaRPr lang="en-US" sz="900"/>
          </a:p>
        </p:txBody>
      </p:sp>
      <p:sp>
        <p:nvSpPr>
          <p:cNvPr id="33" name="Challenge title 3"/>
          <p:cNvSpPr>
            <a:spLocks noGrp="1"/>
          </p:cNvSpPr>
          <p:nvPr/>
        </p:nvSpPr>
        <p:spPr>
          <a:xfrm>
            <a:off x="1130000" y="3875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1C2430"/>
                </a:solidFill>
                <a:latin typeface="Aptos"/>
              </a:rPr>
              <a:t>Traceable follow-up logs</a:t>
            </a:r>
            <a:endParaRPr lang="en-US" sz="1500"/>
          </a:p>
        </p:txBody>
      </p:sp>
      <p:sp>
        <p:nvSpPr>
          <p:cNvPr id="34" name="Challenge body 3"/>
          <p:cNvSpPr>
            <a:spLocks noGrp="1"/>
          </p:cNvSpPr>
          <p:nvPr/>
        </p:nvSpPr>
        <p:spPr>
          <a:xfrm>
            <a:off x="830000" y="4330000"/>
            <a:ext cx="4890000" cy="1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>
                <a:solidFill>
                  <a:srgbClr val="3F4B5B"/>
                </a:solidFill>
                <a:latin typeface="Aptos"/>
              </a:rPr>
              <a:t>Challenge: Leads and tickets were hard to link back to the original chat.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Fix: Added conversation_ref and conversation_transcript to follow-up rows.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Lesson: Operational logs need human-readable audit handles.</a:t>
            </a:r>
            <a:endParaRPr lang="en-US" sz="950"/>
          </a:p>
        </p:txBody>
      </p:sp>
      <p:sp>
        <p:nvSpPr>
          <p:cNvPr id="40" name="Challenge card 4"/>
          <p:cNvSpPr>
            <a:spLocks noGrp="1"/>
          </p:cNvSpPr>
          <p:nvPr/>
        </p:nvSpPr>
        <p:spPr>
          <a:xfrm>
            <a:off x="6240000" y="3770000"/>
            <a:ext cx="533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41" name="Challenge accent 4"/>
          <p:cNvSpPr>
            <a:spLocks noGrp="1"/>
          </p:cNvSpPr>
          <p:nvPr/>
        </p:nvSpPr>
        <p:spPr>
          <a:xfrm>
            <a:off x="6240000" y="3770000"/>
            <a:ext cx="70000" cy="1880000"/>
          </a:xfrm>
          <a:prstGeom prst="roundRect">
            <a:avLst/>
          </a:prstGeom>
          <a:solidFill>
            <a:srgbClr val="8A5A99"/>
          </a:solidFill>
          <a:ln w="12700">
            <a:solidFill>
              <a:srgbClr val="8A5A99"/>
            </a:solidFill>
          </a:ln>
        </p:spPr>
      </p:sp>
      <p:sp>
        <p:nvSpPr>
          <p:cNvPr id="42" name="Challenge number 4"/>
          <p:cNvSpPr>
            <a:spLocks noGrp="1"/>
          </p:cNvSpPr>
          <p:nvPr/>
        </p:nvSpPr>
        <p:spPr>
          <a:xfrm>
            <a:off x="6420000" y="3900000"/>
            <a:ext cx="3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8A5A99"/>
                </a:solidFill>
                <a:latin typeface="Aptos"/>
              </a:rPr>
              <a:t>04</a:t>
            </a:r>
            <a:endParaRPr lang="en-US" sz="900"/>
          </a:p>
        </p:txBody>
      </p:sp>
      <p:sp>
        <p:nvSpPr>
          <p:cNvPr id="43" name="Challenge title 4"/>
          <p:cNvSpPr>
            <a:spLocks noGrp="1"/>
          </p:cNvSpPr>
          <p:nvPr/>
        </p:nvSpPr>
        <p:spPr>
          <a:xfrm>
            <a:off x="6760000" y="3875000"/>
            <a:ext cx="463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1C2430"/>
                </a:solidFill>
                <a:latin typeface="Aptos"/>
              </a:rPr>
              <a:t>Customer-safe error handling</a:t>
            </a:r>
            <a:endParaRPr lang="en-US" sz="1500"/>
          </a:p>
        </p:txBody>
      </p:sp>
      <p:sp>
        <p:nvSpPr>
          <p:cNvPr id="44" name="Challenge body 4"/>
          <p:cNvSpPr>
            <a:spLocks noGrp="1"/>
          </p:cNvSpPr>
          <p:nvPr/>
        </p:nvSpPr>
        <p:spPr>
          <a:xfrm>
            <a:off x="6460000" y="4330000"/>
            <a:ext cx="4890000" cy="1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50">
                <a:solidFill>
                  <a:srgbClr val="3F4B5B"/>
                </a:solidFill>
                <a:latin typeface="Aptos"/>
              </a:rPr>
              <a:t>Challenge: A workflow failure could leave the customer waiting.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Fix: Split customer fallback from ops logging via the global error handler.</a:t>
            </a:r>
            <a:br/>
            <a:r>
              <a:rPr lang="en-US" sz="950">
                <a:solidFill>
                  <a:srgbClr val="3F4B5B"/>
                </a:solidFill>
                <a:latin typeface="Aptos"/>
              </a:rPr>
              <a:t>Lesson: User recovery should not depend on the failing service.</a:t>
            </a:r>
            <a:endParaRPr lang="en-US" sz="950"/>
          </a:p>
        </p:txBody>
      </p:sp>
      <p:sp>
        <p:nvSpPr>
          <p:cNvPr id="50" name="Footer"/>
          <p:cNvSpPr>
            <a:spLocks noGrp="1"/>
          </p:cNvSpPr>
          <p:nvPr/>
        </p:nvSpPr>
        <p:spPr>
          <a:xfrm>
            <a:off x="610000" y="6450000"/>
            <a:ext cx="80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SpaceKonceptRental capstone</a:t>
            </a:r>
            <a:endParaRPr lang="en-US" sz="900"/>
          </a:p>
        </p:txBody>
      </p:sp>
      <p:sp>
        <p:nvSpPr>
          <p:cNvPr id="51" name="Page number"/>
          <p:cNvSpPr>
            <a:spLocks noGrp="1"/>
          </p:cNvSpPr>
          <p:nvPr/>
        </p:nvSpPr>
        <p:spPr>
          <a:xfrm>
            <a:off x="11350000" y="6450000"/>
            <a:ext cx="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900">
                <a:solidFill>
                  <a:srgbClr val="5A6675"/>
                </a:solidFill>
                <a:latin typeface="Aptos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Microsoft Office PowerPoint</Application>
  <DocSecurity>0</DocSecurity>
  <PresentationFormat>Widescreen</PresentationFormat>
  <Paragraphs>147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WJ weijunswj</cp:lastModifiedBy>
  <cp:revision>1</cp:revision>
  <dcterms:created xsi:type="dcterms:W3CDTF">2026-05-16T08:29:29Z</dcterms:created>
  <dcterms:modified xsi:type="dcterms:W3CDTF">2026-05-18T18:49:10Z</dcterms:modified>
</cp:coreProperties>
</file>