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0bc9f3603c4462" /><Relationship Type="http://schemas.openxmlformats.org/officeDocument/2006/relationships/extended-properties" Target="/docProps/app.xml" Id="Raaf19148ec83420c" /><Relationship Type="http://schemas.openxmlformats.org/officeDocument/2006/relationships/officeDocument" Target="/ppt/presentation.xml" Id="R361a6a12e37a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597da1c9a84048"/>
  </p:sldMasterIdLst>
  <p:notesMasterIdLst>
    <p:notesMasterId xmlns:r="http://schemas.openxmlformats.org/officeDocument/2006/relationships" r:id="Rc43837a14b564bc5"/>
  </p:notesMasterIdLst>
  <p:sldIdLst>
    <p:sldId xmlns:r="http://schemas.openxmlformats.org/officeDocument/2006/relationships" id="256" r:id="R54445033f077477a"/>
    <p:sldId xmlns:r="http://schemas.openxmlformats.org/officeDocument/2006/relationships" id="257" r:id="R366361013c3e4ee4"/>
    <p:sldId xmlns:r="http://schemas.openxmlformats.org/officeDocument/2006/relationships" id="258" r:id="Ra04ca55a01bc4d1f"/>
    <p:sldId xmlns:r="http://schemas.openxmlformats.org/officeDocument/2006/relationships" id="259" r:id="Rdef0073f0aae4c9c"/>
    <p:sldId xmlns:r="http://schemas.openxmlformats.org/officeDocument/2006/relationships" id="260" r:id="R23522da03bc54e9c"/>
    <p:sldId xmlns:r="http://schemas.openxmlformats.org/officeDocument/2006/relationships" id="261" r:id="R0b98041cfdca4e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97da1c9a84048" /><Relationship Type="http://schemas.openxmlformats.org/officeDocument/2006/relationships/theme" Target="/ppt/theme/theme1.xml" Id="Rc606c30f658340c3" /><Relationship Type="http://schemas.openxmlformats.org/officeDocument/2006/relationships/notesMaster" Target="/ppt/notesMasters/notesMaster1.xml" Id="Rc43837a14b564bc5" /><Relationship Type="http://schemas.openxmlformats.org/officeDocument/2006/relationships/presProps" Target="/ppt/presProps.xml" Id="Rb2a9c1e904954ae4" /><Relationship Type="http://schemas.openxmlformats.org/officeDocument/2006/relationships/viewProps" Target="/ppt/viewProps.xml" Id="R42d3654323ef4a6b" /><Relationship Type="http://schemas.openxmlformats.org/officeDocument/2006/relationships/tableStyles" Target="/ppt/tableStyles.xml" Id="R57e6184d82e9495c" /><Relationship Type="http://schemas.openxmlformats.org/officeDocument/2006/relationships/slide" Target="/ppt/slides/slide1.xml" Id="R54445033f077477a" /><Relationship Type="http://schemas.openxmlformats.org/officeDocument/2006/relationships/slide" Target="/ppt/slides/slide2.xml" Id="R366361013c3e4ee4" /><Relationship Type="http://schemas.openxmlformats.org/officeDocument/2006/relationships/slide" Target="/ppt/slides/slide3.xml" Id="Ra04ca55a01bc4d1f" /><Relationship Type="http://schemas.openxmlformats.org/officeDocument/2006/relationships/slide" Target="/ppt/slides/slide4.xml" Id="Rdef0073f0aae4c9c" /><Relationship Type="http://schemas.openxmlformats.org/officeDocument/2006/relationships/slide" Target="/ppt/slides/slide5.xml" Id="R23522da03bc54e9c" /><Relationship Type="http://schemas.openxmlformats.org/officeDocument/2006/relationships/slide" Target="/ppt/slides/slide6.xml" Id="R0b98041cfdca4e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68ae9e990a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97f4ca7f04530" /><Relationship Type="http://schemas.openxmlformats.org/officeDocument/2006/relationships/notesMaster" Target="/ppt/notesMasters/notesMaster1.xml" Id="R5671245e15e449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924d18737a437e" /><Relationship Type="http://schemas.openxmlformats.org/officeDocument/2006/relationships/notesMaster" Target="/ppt/notesMasters/notesMaster1.xml" Id="Rc31ce55466ff46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449a1c27854158" /><Relationship Type="http://schemas.openxmlformats.org/officeDocument/2006/relationships/notesMaster" Target="/ppt/notesMasters/notesMaster1.xml" Id="Red684d756c1843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ead03e5d534fbe" /><Relationship Type="http://schemas.openxmlformats.org/officeDocument/2006/relationships/notesMaster" Target="/ppt/notesMasters/notesMaster1.xml" Id="R060db42f0efb4b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f59ab99a214ce2" /><Relationship Type="http://schemas.openxmlformats.org/officeDocument/2006/relationships/notesMaster" Target="/ppt/notesMasters/notesMaster1.xml" Id="R868107ac24e643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e52cd207544da9" /><Relationship Type="http://schemas.openxmlformats.org/officeDocument/2006/relationships/notesMaster" Target="/ppt/notesMasters/notesMaster1.xml" Id="Re3afc9bb37b947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4a71f01ee446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632cfee68141da" /><Relationship Type="http://schemas.openxmlformats.org/officeDocument/2006/relationships/slideLayout" Target="/ppt/slideLayouts/slideLayout2.xml" Id="Rfabde766693c4b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de766693c4b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6c3208eab4f9e" /><Relationship Type="http://schemas.openxmlformats.org/officeDocument/2006/relationships/notesSlide" Target="/ppt/notesSlides/notesSlide1.xml" Id="R92909256955d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e1c614a3cd4f28" /><Relationship Type="http://schemas.openxmlformats.org/officeDocument/2006/relationships/notesSlide" Target="/ppt/notesSlides/notesSlide2.xml" Id="R19f29a335045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d554360d54e60" /><Relationship Type="http://schemas.openxmlformats.org/officeDocument/2006/relationships/notesSlide" Target="/ppt/notesSlides/notesSlide3.xml" Id="Re63cc9f808af49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e023a7d58149bc" /><Relationship Type="http://schemas.openxmlformats.org/officeDocument/2006/relationships/notesSlide" Target="/ppt/notesSlides/notesSlide4.xml" Id="R6d86901f76584e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35bcc72db473f" /><Relationship Type="http://schemas.openxmlformats.org/officeDocument/2006/relationships/notesSlide" Target="/ppt/notesSlides/notesSlide5.xml" Id="R7a9358c75368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4e6bd394844d7e" /><Relationship Type="http://schemas.openxmlformats.org/officeDocument/2006/relationships/notesSlide" Target="/ppt/notesSlides/notesSlide6.xml" Id="R2a0389572d2444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B7151-0F6B-45A9-BC49-1475BF54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11474-2B7F-4076-B328-55233D89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D7CEC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46E4B-B249-4F43-8BEA-035EDD6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32775-D631-4B74-92CC-DC5DBEB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714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30B21-EFCA-4572-AA97-53079E3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477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63DB5-6894-4B37-AFF5-5D0847D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Support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AA67D-E7CA-4541-818B-4DF9994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81150"/>
            <a:ext cx="685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SpaceKonceptRental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725F4-1E9E-4B8D-9A9A-1AE86F2F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RAG customer support workflow built with n8n, Google Drive, Pinecone, Google Sheets, Gmail, and OpenAI.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88DF5-E93B-4A7E-8F57-BE883A28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Capstone goal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31E28-B766-4D55-98BF-61689811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Answer FAQs, capture leads, create tickets, escalate issues, and log operations for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CB0F2-F4D5-4176-8CFD-9272518D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90650"/>
            <a:ext cx="209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F"/>
          </a:solidFill>
          <a:ln xmlns:a="http://schemas.openxmlformats.org/drawingml/2006/main" w="9525">
            <a:solidFill>
              <a:srgbClr val="B8D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47619-6E16-44E0-A3FF-340F742A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335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BF401-18AC-41E5-B01E-26880AE0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 Ingest KB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 Ask chatbot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 Review Sheets</a:t>
            </a:r>
          </a:p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4. Trigger error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DC8DC-C989-42D5-B75D-67EC007C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0F0AC-A29C-42A7-A0F8-52B2F31A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77012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3A9998-6BBF-41DA-B058-67813BE6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CE5B7-657C-4525-BCA8-B5CBC515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FB924-DC2B-4FE9-A458-98CD698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CAPSTONE REQUIREMENT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80660-2053-4421-8281-733D9E94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Customer support scope mapped to working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2867B-0DE0-43A7-A411-E9AB724E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brief asks for FAQ answers, bookings, tickets, escalations, and lead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0C8BD-2A11-40BA-932B-1A626913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327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01F31-59D0-4703-9EE5-AEB41B9A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452A0-AAA1-4C0D-A530-9D7FBD94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FAQ and pricing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782B1-CBE6-4D81-8F91-4DB89BF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Answers are grounded in the uploaded Markdown KB. Pricing questions are answered conservatively and routed for quote confirmation.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4A8DA-A839-47B3-A782-04D69D19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327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0AB50-FDB3-4FAE-A67D-4088D77E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D5D0A-BFC5-417D-83CB-26323E4D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Booking and leads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DB2D1-07E1-4060-8548-27844B14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agent collects contact details, rental purpose, dates, duration, items, delivery area, and budget where provided.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4C6C3-C226-46DC-BAF7-F3C6B69A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327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F17E2-5FAC-4A03-A243-B84AF6CE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1DC92-8CE6-41B6-B7A2-62E75D17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Tickets and escalation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0BC9F-A39E-4DE4-AA1D-4CD8EF43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Damage, complaints, urgent delivery, or human handoff requests create follow-up records and Gmail alerts.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C824A-C8FC-49A1-9E35-3A40A6CA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3276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531BB-C9B2-4C5C-9840-BE9B01ED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ED3EB-9F39-4F96-B5C0-8A51D50E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Knowledge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317F9-38EF-40ED-946F-CE775D6C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Google Drive stores cleaned Markdown files; ingestion creates Pinecone vectors in SpaceKonceptRental_kb.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3DA3B-C533-4F15-AC09-65865270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3276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DF621-E2BF-41B2-A98F-296E7BD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ABF9D-1A1D-4F21-8A35-A307E37E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48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Logging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B0B48-5BD7-45A1-A615-C2F708C6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Google Sheets records conversations, leads, tickets, unanswered questions, ingestion, and failures.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D8789-A275-431A-BE8C-4CE4DEC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3276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DF260-2171-438F-A1F8-412FDFB9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2720FA-A4F7-4975-A066-99EB3F21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Error handling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753B8-04D4-4C3C-B9ED-E7D99048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 global error workflow logs failures and sends alerts independently of normal chat flow.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A17282-B63C-488C-B44E-E0A30873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C42EB-8920-4C5A-9554-22D16A4A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57152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DCD81F-A0BD-4A15-A52C-CD7BB4E8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DCD7E-261C-4482-8849-11A2BA6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EF11D-9BC2-4A78-A2BF-856520E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19F97-C7DB-4B76-8A64-50568B59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Three local workflow exports cover the full support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D99EE-566B-4CF4-AFF7-F3F669B0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4579F-99E2-4F8C-A3A8-6E96E46B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3FAA4-C298-4F46-BC86-313C2EEC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Google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91D96-77E3-4E99-A177-FBB1D1AC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Approved Markdown KB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56615-742B-4A96-9D07-4A45AF09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BD064-C08A-4BB5-99C2-4FD106A8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4DC8B-4E35-41B5-A444-ABC263A2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E02CB-B884-4A54-A069-06D7ED66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Drive trigger, chunking, embeddings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7F238-BB09-424A-B549-B07B876B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2522C-D120-4F6A-A9E9-BD20941C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54057-FC64-43EC-87F1-B8668A5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Pinecone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B9B7F-3257-4FE6-8492-8EA8ECF7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Namespace: SpaceKonceptRental_kb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76492-F3B7-43DA-9AB2-754E7B16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4BAFF-0953-405B-B662-66462394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D56E3-D518-4233-8110-5211BD1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Chat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262E5-8C6C-49A0-9735-7B105818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Retrieval, strict JSON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F357B-C6FB-4F78-B674-E7B7653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771C2-17EB-406E-A943-64369E6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29DFF-FB7B-4C04-8740-C4B0D920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674D6-2EF9-4805-9282-A2485C1C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Sheets logging and Gmail alerts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6886B-783A-4ECB-B324-FE35D2B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Workflow exports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B9CA2-A6A1-402B-9D21-DE6F94E2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 Global Error Handler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2. KB Ingestion to Pinecone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3. RAG Customer Support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39102-9BD5-4A0A-9E3F-433687FC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Operational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5A025-CFB9-4C33-BF5C-BBEF04BE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conversations, leads, tickets, unanswered_questions, kb_ingestion, failures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8F587C-B497-4A06-942A-CCD3C0A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3F66B-922F-4D94-8C25-60D80009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71878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ACB68-41FC-4225-AFB1-97482A4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09EC4-9203-4BC7-A467-D16675AD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2ACD8-DF50-4E82-89E4-E111E6C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RAG KNOWLEDGE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35D25-E097-44C5-86B8-2E9EEE94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Markdown files keep retrieval factual and easy to inspect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2275C-993C-4FA9-9923-34188BE8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old Q&amp;A script was converted into KB-style reference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9D990-B912-4908-B1AA-9F55367B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600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03EED-BAAC-4D86-AF53-CB5D67C2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69BB0-3993-4677-ADAC-49CC647F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RAG-ready Markdown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5FA5A-089A-4046-A3E3-89BF83C3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09800"/>
            <a:ext cx="1600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0184A-4E45-4724-B3F9-0043D6D8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92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992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41518-816E-49F3-892F-0C50B6C5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n8n workflow exports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352B0-02B7-484C-9D06-06E9794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1600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5145F-975B-4E6D-B672-DEF0FA66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365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365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A4EC3-25DA-4031-915A-6CA19FD8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Google Sheets log tabs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3ECF6-3582-4912-9AF9-097CD61F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407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80270-9986-41EF-82FB-C1CFAE22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ECF9C-BC21-42F6-91B2-A524994C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28850"/>
            <a:ext cx="3657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F0EB4-D01C-42EE-8ECC-C4ADF5B3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365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Intent and handoff labels were removed from the KB. Routing remains in the agent prompt and n8n IF nodes.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2FDEA-FBA4-4B86-ADFB-57B4569D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3200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9FD75-B4EC-4415-B6AA-EE6F129E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5FD64-DF44-4057-B6E5-0A3CB4C6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FAQ and service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53C8CA-4ED2-404D-B491-B5835D8E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Service overview, rental process, quote request details, delivery questions, and chatbot limits.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CEE9B-3E3E-46E3-85A9-A5FD9001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3200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E9768-327B-4A8D-B9D0-872D1DB8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B2A2D-532E-4BFB-94F3-083CA49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Terms and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0773C3-CEC4-4B19-B315-3E8C88F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Draft policy material is separated and marked for business/legal review before production.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087E6-8D0E-4E55-8855-C8A14919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28003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D18367-71B5-440F-AA12-AEDF5170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1E8ED-B955-497A-80A8-77AC0828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Catalogue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ECFCC-5DE5-43F2-B72F-8456C93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Product categories are summarised for broad answers; final availability and pricing still require team confirmation.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73E5B2-D625-4FB3-90FC-0741668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3A05FE-6A87-44B5-B2F0-3B0FC4D2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11602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3DE47-22CB-4E99-9DB1-1DD2939B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7DCA6-4C44-4B14-999B-DE25119E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5CE89-B9E4-4934-99DC-748B9030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DEMO AND TEST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20140-D319-4540-AEB3-6B7A8C2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Presentation demo can show the full support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F87EF-4591-47AC-9517-F635FA5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D473-75F3-492E-B568-9A167CAC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A12DB-EE9C-4B9D-B7D2-D52E9605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1. Ingest KB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F0506-9918-41E4-93CF-671E5F90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Upload kb/*.md to the Drive folder and run the ingestion workflow. Confirm Pinecone and kb_ingestion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28442-CBED-40EC-AC57-D6072BB4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C470C-9358-43E2-AFD1-2C480659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07F0E-7FD1-4223-98D5-B8D5E8C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2. Ask FAQ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4EF1C-38D8-4BC7-8EC4-1BFF1AD8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Ask how rental works. The answer should cite KB facts and complete a conversation row.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1C3A7-C061-48B9-A7DC-E98A4C06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1E9F3-5020-4670-A556-999B4459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791D0-FC81-4D0D-ABD0-37B2F26D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3. Route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FFF3D-B06C-4A47-B106-4D3F0F51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28900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Ask booking, ticket, lead, pricing, and angry-customer prompts. Confirm Sheets and Gmail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F9CD9-DB3E-4F2B-ABB0-48109ED5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767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02ECD-276F-4997-874E-D5D0A167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767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6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781E7-57C6-4F4E-B43A-C6D5055D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672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4. Duplicate safety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45F50-FEB9-4FA9-B4EF-0CF7C9D2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10100"/>
            <a:ext cx="262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Send the same message_id twice and confirm no duplicate business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D89C0-F30D-4966-B22A-A0D240AB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F8BD5-0504-468A-8263-B2954A7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483AC-3E86-414B-BAFE-DEEF7FBD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5. Error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7F26C-C01D-4B58-B386-B01D112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262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Trigger a controlled failure and confirm the failures sheet plus Gmail alert.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3DB43-7622-4CE3-92E3-3E7AD9AC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738E4-0002-4E5E-94D0-314EB2E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05645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69E41E-C2F5-4133-96B7-5A0ADB5F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FB8AD-7D63-462D-BD67-DD544FBB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FE7C4-DB8C-4F4C-9873-68EE7BC8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5"/>
                </a:solidFill>
                <a:latin typeface="Aptos"/>
                <a:ea typeface="Aptos"/>
                <a:cs typeface="Aptos"/>
              </a:rPr>
              <a:t>READINESS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A29C7-EF35-49FD-9BEB-7A0F5BF6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Ready for capstone walkthrough; not yet production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076CD-B8F4-41AE-8F1C-6604C45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remaining gap is live testing and production hardening.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26590-87B5-4647-B74D-87613E04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7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9BE97-5FC1-4028-9C1C-0A5DC61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47F14-A6E6-43B9-AC0B-1D01DB2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Ready for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B5D30-7737-4CCE-B283-94343491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4152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Workflow JSON validates locally. KB files are cleaned and separated. Demo story maps to the official customer-support capstone deliverables.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1082B-D24A-43B8-B825-1310C13C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57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CB8CB-0A9D-4846-BDE4-C5250CFB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A7690-91EF-4149-B435-FE9E30FF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Needs live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0DEAA-151E-4666-89CB-FBB9449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4152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End-to-end import, KB ingestion, chatbot execution, Sheets logging, Gmail alerts, and error handling still need live testing.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54A2D-BB8D-40AD-A4DC-5CB761B6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457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7A588-81EA-4758-84C5-F0EA712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BEEBF-DAD1-4195-9D70-5FE7A908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Before 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B1375-41D3-48F9-9D76-AE341FA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415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Confirm business/legal facts, replace draft policy markers, review security, monitor executions, and test website or WhatsApp deployment.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85BAF-DF30-4A7F-8F32-1057DCEC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57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D79CC-1793-427D-B8F9-082EB2A3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D1C17-2F2A-452C-B07B-C1B2ED2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Capstone talking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23345-B360-481A-B6CD-5EA6FB49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5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This is a practical n8n implementation of the brief: RAG answers, lead capture, ticketing, escalation, and operational logging.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E1592-C8A1-4768-BC7C-D3FE1671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SpaceKonceptRental capstone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692D3-EB86-4AB9-9B3A-5F161807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8551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2026-05-16T08:29:29.7370000Z</dcterms:created>
  <dcterms:modified xsi:type="dcterms:W3CDTF">2026-05-16T08:29:29.7370000Z</dcterms:modified>
</coreProperties>
</file>